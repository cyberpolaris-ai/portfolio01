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25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3197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3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41C45">
              <a:alpha val="50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141C45">
              <a:alpha val="50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73152" cy="164592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188720" y="9144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kern="0" spc="400" dirty="0">
                <a:solidFill>
                  <a:srgbClr val="F0D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2026年版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4173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40代主婦の新しい働き方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188720" y="21945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0D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1日2時間・PC1台で月5万円を叶える</a:t>
            </a:r>
            <a:endParaRPr lang="en-US" sz="2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74320"/>
            <a:ext cx="2560320" cy="25603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3657600"/>
            <a:ext cx="9144000" cy="731520"/>
          </a:xfrm>
          <a:prstGeom prst="rect">
            <a:avLst/>
          </a:prstGeom>
          <a:solidFill>
            <a:srgbClr val="D4A843">
              <a:alpha val="15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7"/>
          <p:cNvSpPr/>
          <p:nvPr/>
        </p:nvSpPr>
        <p:spPr>
          <a:xfrm>
            <a:off x="914400" y="3703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デジタル技術 × あなたの経験 ＝ 新しいキャリア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41C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9"/>
          <p:cNvSpPr/>
          <p:nvPr/>
        </p:nvSpPr>
        <p:spPr>
          <a:xfrm>
            <a:off x="457200" y="477316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0D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副業スタートガイド ― 講義用資料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「働き損」はもう過去のもの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2026年の税制改正があなたを後押しします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484632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64008" cy="283464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1005839" y="1737360"/>
            <a:ext cx="4386615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かつての「年収の壁」問題が大幅に緩和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</a:rPr>
              <a:t>所得税の非課税枠が178万円に引き上げ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</a:rPr>
              <a:t>社会保険は「労働契約」ベースの判定に変更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</a:rPr>
              <a:t>業務委託型の副業で扶養維持がしやすい構造に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</a:rPr>
              <a:t>一時的な収入増も柔軟に対応可能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400" b="1" dirty="0">
                <a:solidFill>
                  <a:srgbClr val="E8836B"/>
                </a:solidFill>
              </a:rPr>
              <a:t>→ 月5万円〜10万円の副業収入を安心して目指せる</a:t>
            </a:r>
          </a:p>
          <a:p>
            <a:pPr marL="0" indent="0">
              <a:buNone/>
            </a:pPr>
            <a:r>
              <a:rPr lang="ja-JP" altLang="en-US" sz="1400" b="1" dirty="0">
                <a:solidFill>
                  <a:srgbClr val="E8836B"/>
                </a:solidFill>
              </a:rPr>
              <a:t>　</a:t>
            </a:r>
            <a:r>
              <a:rPr lang="en-US" sz="1400" b="1" dirty="0" err="1">
                <a:solidFill>
                  <a:srgbClr val="E8836B"/>
                </a:solidFill>
              </a:rPr>
              <a:t>時代に</a:t>
            </a:r>
            <a:r>
              <a:rPr lang="en-US" sz="1400" b="1" dirty="0">
                <a:solidFill>
                  <a:srgbClr val="E8836B"/>
                </a:solidFill>
              </a:rPr>
              <a:t>！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45920"/>
            <a:ext cx="731520" cy="73152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2286000"/>
            <a:ext cx="640080" cy="640080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3017520"/>
            <a:ext cx="640080" cy="64008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5943600" y="3657600"/>
            <a:ext cx="2743200" cy="640080"/>
          </a:xfrm>
          <a:prstGeom prst="rect">
            <a:avLst/>
          </a:prstGeom>
          <a:solidFill>
            <a:srgbClr val="1E2761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6"/>
          <p:cNvSpPr/>
          <p:nvPr/>
        </p:nvSpPr>
        <p:spPr>
          <a:xfrm>
            <a:off x="5943600" y="36576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4A843"/>
                </a:solidFill>
              </a:rPr>
              <a:t>178</a:t>
            </a:r>
            <a:r>
              <a:rPr lang="en-US" sz="1400" dirty="0">
                <a:solidFill>
                  <a:srgbClr val="FFFFFF"/>
                </a:solidFill>
              </a:rPr>
              <a:t> 万円  非課税枠</a:t>
            </a:r>
            <a:endParaRPr lang="en-US" sz="2800" dirty="0"/>
          </a:p>
        </p:txBody>
      </p:sp>
      <p:sp>
        <p:nvSpPr>
          <p:cNvPr id="12" name="Shape 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8"/>
          <p:cNvSpPr/>
          <p:nvPr/>
        </p:nvSpPr>
        <p:spPr>
          <a:xfrm>
            <a:off x="457200" y="477316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40代主婦の副業戦略 2026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7772400" y="477316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0D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あなたの強みは何？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子育て・家事・社会人経験は、市場で売れる「資産」です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60604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1508760" y="1737360"/>
            <a:ext cx="822960" cy="822960"/>
          </a:xfrm>
          <a:prstGeom prst="ellipse">
            <a:avLst/>
          </a:prstGeom>
          <a:solidFill>
            <a:srgbClr val="E8836B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19202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7432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生活者の視点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85382" y="3200400"/>
            <a:ext cx="232733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消費者目線の感性、実体験に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基づく情報は</a:t>
            </a:r>
            <a:r>
              <a:rPr lang="ja-JP" alt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、</a:t>
            </a: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AIでは生み出せない独自の価値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29000" y="1554480"/>
            <a:ext cx="256032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7"/>
          <p:cNvSpPr/>
          <p:nvPr/>
        </p:nvSpPr>
        <p:spPr>
          <a:xfrm>
            <a:off x="4297680" y="1737360"/>
            <a:ext cx="822960" cy="822960"/>
          </a:xfrm>
          <a:prstGeom prst="ellipse">
            <a:avLst/>
          </a:prstGeom>
          <a:solidFill>
            <a:srgbClr val="6B8FC4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192024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27432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調整力・気配り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611880" y="320040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家庭で培ったマルチタスク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能力ときめ細やかなコミュニケーション力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17920" y="1554480"/>
            <a:ext cx="256032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1"/>
          <p:cNvSpPr/>
          <p:nvPr/>
        </p:nvSpPr>
        <p:spPr>
          <a:xfrm>
            <a:off x="7086600" y="1737360"/>
            <a:ext cx="822960" cy="822960"/>
          </a:xfrm>
          <a:prstGeom prst="ellipse">
            <a:avLst/>
          </a:prstGeom>
          <a:solidFill>
            <a:srgbClr val="7BA68D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192024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0" y="27432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継続の実績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344433" y="3200400"/>
            <a:ext cx="2159487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「20年続けてきた」経験は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オンライン市場で強力な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ブランドに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5"/>
          <p:cNvSpPr/>
          <p:nvPr/>
        </p:nvSpPr>
        <p:spPr>
          <a:xfrm>
            <a:off x="457200" y="477316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40代主婦の副業戦略 2026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7772400" y="477316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0D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2026年の「3つの追い風」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7863840" cy="105156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3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141732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560320" y="12344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178万円の壁 引き上げ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2560320" y="16916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所得税の非課税枠が拡大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扶養を気にせず稼げる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2423160"/>
            <a:ext cx="7863840" cy="105156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6"/>
          <p:cNvSpPr/>
          <p:nvPr/>
        </p:nvSpPr>
        <p:spPr>
          <a:xfrm>
            <a:off x="822960" y="251460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36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7360" y="265176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560320" y="24688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AIによる生産性革命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2560320" y="2926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生成AIで高品質なアウトプットを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短時間で創出可能に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3657600"/>
            <a:ext cx="7863840" cy="105156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0"/>
          <p:cNvSpPr/>
          <p:nvPr/>
        </p:nvSpPr>
        <p:spPr>
          <a:xfrm>
            <a:off x="822960" y="3749040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D4A84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36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7360" y="388620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560320" y="37033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深刻な人手不足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2560320" y="41605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企業の外注ニーズが急増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個人への業務委託が一般化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41C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4"/>
          <p:cNvSpPr/>
          <p:nvPr/>
        </p:nvSpPr>
        <p:spPr>
          <a:xfrm>
            <a:off x="457200" y="477316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40代主婦の副業戦略 2026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7772400" y="477316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0D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低スペックPCでも大丈夫！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クラウドとAIがあなたの味方。高性能な機材は不要です</a:t>
            </a:r>
            <a:endParaRPr lang="en-US" sz="1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71600"/>
            <a:ext cx="320040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840480" y="1508760"/>
            <a:ext cx="47548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080" y="1673352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09160" y="1554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クラウド処理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4709160" y="19202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計算はサーバー側で実行。PCのスペック不問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3840480" y="2514600"/>
            <a:ext cx="47548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9080" y="2679192"/>
            <a:ext cx="457200" cy="457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709160" y="2560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ブラウザだけでOK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4709160" y="29260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Chrome/Edgeで全作業が完結。特別なソフト不要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3840480" y="3520440"/>
            <a:ext cx="47548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9080" y="3685032"/>
            <a:ext cx="457200" cy="457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709160" y="3566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AIが相棒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4709160" y="39319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ChatGPT・Claude・Canvaで高品質アウトプット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2"/>
          <p:cNvSpPr/>
          <p:nvPr/>
        </p:nvSpPr>
        <p:spPr>
          <a:xfrm>
            <a:off x="457200" y="477316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40代主婦の副業戦略 2026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7772400" y="477316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0D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836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640080" y="274320"/>
            <a:ext cx="640080" cy="640080"/>
          </a:xfrm>
          <a:prstGeom prst="ellipse">
            <a:avLst/>
          </a:prstGeom>
          <a:solidFill>
            <a:srgbClr val="E8836B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1148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228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おすすめ副業 ①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463040" y="502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AIハイブリッド型 Webライター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40080" y="1188720"/>
            <a:ext cx="41148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Text 5"/>
          <p:cNvSpPr/>
          <p:nvPr/>
        </p:nvSpPr>
        <p:spPr>
          <a:xfrm>
            <a:off x="914400" y="13258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仕事内容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AIが生成した草案を編集・ファクトチェック・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情緒的な味付けを行う新スタイルの執筆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40代主婦の優位性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子育て・家事・美容・健康・介護など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実体験に基づく一次情報が記事の信頼性を高める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必要な環境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ブラウザ上のAIツール（ChatGPT、Claude等）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低スペックPCで全く問題なし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120640" y="1188720"/>
            <a:ext cx="3474720" cy="1371600"/>
          </a:xfrm>
          <a:prstGeom prst="rect">
            <a:avLst/>
          </a:prstGeom>
          <a:solidFill>
            <a:srgbClr val="1E2761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7"/>
          <p:cNvSpPr/>
          <p:nvPr/>
        </p:nvSpPr>
        <p:spPr>
          <a:xfrm>
            <a:off x="5394960" y="128016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D88A"/>
                </a:solidFill>
              </a:rPr>
              <a:t>収益目標</a:t>
            </a:r>
            <a:endParaRPr lang="en-US" sz="11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月20本 × 文字単価1円〜</a:t>
            </a:r>
            <a:endParaRPr lang="en-US" sz="1100" dirty="0"/>
          </a:p>
          <a:p>
            <a:pPr marL="0" indent="0">
              <a:buNone/>
            </a:pPr>
            <a:r>
              <a:rPr lang="en-US" sz="2800" b="1" dirty="0">
                <a:solidFill>
                  <a:srgbClr val="D4A843"/>
                </a:solidFill>
              </a:rPr>
              <a:t>＝ 月収5万円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120640" y="2743200"/>
            <a:ext cx="34747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9"/>
          <p:cNvSpPr/>
          <p:nvPr/>
        </p:nvSpPr>
        <p:spPr>
          <a:xfrm>
            <a:off x="5120640" y="2743200"/>
            <a:ext cx="64008" cy="1645920"/>
          </a:xfrm>
          <a:prstGeom prst="rect">
            <a:avLst/>
          </a:prstGeom>
          <a:solidFill>
            <a:srgbClr val="E8836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0"/>
          <p:cNvSpPr/>
          <p:nvPr/>
        </p:nvSpPr>
        <p:spPr>
          <a:xfrm>
            <a:off x="5440680" y="283464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8836B"/>
                </a:solidFill>
              </a:rPr>
              <a:t>ポイント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「AI + 人間」のハイブリッド体制が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2026年の標準。AIが模倣できない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生活者視点が最大の武器に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457200" y="477316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40代主婦の副業戦略 2026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772400" y="477316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0D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B8FC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640080" y="274320"/>
            <a:ext cx="640080" cy="640080"/>
          </a:xfrm>
          <a:prstGeom prst="ellipse">
            <a:avLst/>
          </a:prstGeom>
          <a:solidFill>
            <a:srgbClr val="6B8FC4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1148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228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おすすめ副業 ②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463040" y="502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インスタグラム・SNS運用代行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40080" y="1188720"/>
            <a:ext cx="41148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Text 5"/>
          <p:cNvSpPr/>
          <p:nvPr/>
        </p:nvSpPr>
        <p:spPr>
          <a:xfrm>
            <a:off x="914400" y="13258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仕事内容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企業のSNSアカウントの投稿作成・スケジュール管理・コメント対応・ハッシュタグ分析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40代主婦の優位性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ターゲット層の心理を理解。生活感のある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感性がマーケティングに直結する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活用ツール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Canva Magic Designでデザイン未経験でも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高品質な画像・動画を制作可能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120640" y="1188720"/>
            <a:ext cx="3474720" cy="1371600"/>
          </a:xfrm>
          <a:prstGeom prst="rect">
            <a:avLst/>
          </a:prstGeom>
          <a:solidFill>
            <a:srgbClr val="6B8FC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7"/>
          <p:cNvSpPr/>
          <p:nvPr/>
        </p:nvSpPr>
        <p:spPr>
          <a:xfrm>
            <a:off x="5394960" y="128016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収益目標</a:t>
            </a:r>
            <a:endParaRPr lang="en-US" sz="1100" dirty="0"/>
          </a:p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1アカウント 月額3〜5万円</a:t>
            </a:r>
            <a:endParaRPr lang="en-US" sz="11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0D88A"/>
                </a:solidFill>
              </a:rPr>
              <a:t>1〜2件で目標達成！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120640" y="2743200"/>
            <a:ext cx="34747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9"/>
          <p:cNvSpPr/>
          <p:nvPr/>
        </p:nvSpPr>
        <p:spPr>
          <a:xfrm>
            <a:off x="5120640" y="2743200"/>
            <a:ext cx="64008" cy="1645920"/>
          </a:xfrm>
          <a:prstGeom prst="rect">
            <a:avLst/>
          </a:prstGeom>
          <a:solidFill>
            <a:srgbClr val="6B8FC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0"/>
          <p:cNvSpPr/>
          <p:nvPr/>
        </p:nvSpPr>
        <p:spPr>
          <a:xfrm>
            <a:off x="5440680" y="283464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6B8FC4"/>
                </a:solidFill>
              </a:rPr>
              <a:t>業務範囲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</a:rPr>
              <a:t>投稿スケジュール管理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</a:rPr>
              <a:t>コメント返信・DM対応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</a:rPr>
              <a:t>ハッシュタグ分析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</a:rPr>
              <a:t>画像・ショート動画制作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457200" y="477316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40代主婦の副業戦略 2026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772400" y="477316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0D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BA68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640080" y="274320"/>
            <a:ext cx="640080" cy="640080"/>
          </a:xfrm>
          <a:prstGeom prst="ellipse">
            <a:avLst/>
          </a:prstGeom>
          <a:solidFill>
            <a:srgbClr val="7BA68D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1148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228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BA6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おすすめ副業 ③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463040" y="502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バーチャル・オンライン秘書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40080" y="1188720"/>
            <a:ext cx="41148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Text 5"/>
          <p:cNvSpPr/>
          <p:nvPr/>
        </p:nvSpPr>
        <p:spPr>
          <a:xfrm>
            <a:off x="914400" y="132588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仕事内容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スケジュール管理・経費精算・リサーチ・メール対応など、バックオフィス業務を一括代行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40代主婦の優位性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ビジネスマナー・事務処理能力・先回りした気配りがクライアントの信頼を勝ち取る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活用ツール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Google Workspace / Slack / Notion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ブラウザベースの作業が中心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120640" y="1188720"/>
            <a:ext cx="3474720" cy="1371600"/>
          </a:xfrm>
          <a:prstGeom prst="rect">
            <a:avLst/>
          </a:prstGeom>
          <a:solidFill>
            <a:srgbClr val="7BA68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7"/>
          <p:cNvSpPr/>
          <p:nvPr/>
        </p:nvSpPr>
        <p:spPr>
          <a:xfrm>
            <a:off x="5394960" y="128016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収益目標</a:t>
            </a:r>
            <a:endParaRPr lang="en-US" sz="11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時給 1,200〜1,500円</a:t>
            </a:r>
            <a:endParaRPr lang="en-US" sz="11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0D88A"/>
                </a:solidFill>
              </a:rPr>
              <a:t>月20日×2h ＝ 4.8〜6万円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120640" y="2743200"/>
            <a:ext cx="34747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9"/>
          <p:cNvSpPr/>
          <p:nvPr/>
        </p:nvSpPr>
        <p:spPr>
          <a:xfrm>
            <a:off x="5120640" y="2743200"/>
            <a:ext cx="64008" cy="1645920"/>
          </a:xfrm>
          <a:prstGeom prst="rect">
            <a:avLst/>
          </a:prstGeom>
          <a:solidFill>
            <a:srgbClr val="7BA68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0"/>
          <p:cNvSpPr/>
          <p:nvPr/>
        </p:nvSpPr>
        <p:spPr>
          <a:xfrm>
            <a:off x="5440680" y="283464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7BA68D"/>
                </a:solidFill>
              </a:rPr>
              <a:t>ポイント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社会人経験をそのまま活かせる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「誰かを支える喜び」が収益に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リモートワーク完全対応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457200" y="477316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40代主婦の副業戦略 2026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772400" y="477316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0D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640080" y="274320"/>
            <a:ext cx="640080" cy="640080"/>
          </a:xfrm>
          <a:prstGeom prst="ellipse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1148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228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おすすめ副業 ④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463040" y="502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AI検証・データアノテーション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40080" y="1188720"/>
            <a:ext cx="41148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Text 5"/>
          <p:cNvSpPr/>
          <p:nvPr/>
        </p:nvSpPr>
        <p:spPr>
          <a:xfrm>
            <a:off x="914399" y="1325880"/>
            <a:ext cx="3701441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仕事内容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AIの出力が正確か・倫理的か・読みやすいかを人間が評価・判定する業務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40代主婦の優位性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一般消費者の代表としての視点がAIの「不自然さ」を検知する上で重要視される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特徴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タスクごとの報酬制。スマホでも作業可能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隙間時間を活かして安定収入を確保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120640" y="1188720"/>
            <a:ext cx="3474720" cy="1371600"/>
          </a:xfrm>
          <a:prstGeom prst="rect">
            <a:avLst/>
          </a:prstGeom>
          <a:solidFill>
            <a:srgbClr val="D4A84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7"/>
          <p:cNvSpPr/>
          <p:nvPr/>
        </p:nvSpPr>
        <p:spPr>
          <a:xfrm>
            <a:off x="5394960" y="1280160"/>
            <a:ext cx="303505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2026年特有の新職種</a:t>
            </a:r>
            <a:endParaRPr lang="en-US" sz="1100" dirty="0"/>
          </a:p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</a:rPr>
              <a:t>AIの「先生」になる仕事</a:t>
            </a:r>
            <a:endParaRPr lang="en-US" sz="11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未経験からでも即着手可能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120640" y="2743200"/>
            <a:ext cx="34747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9"/>
          <p:cNvSpPr/>
          <p:nvPr/>
        </p:nvSpPr>
        <p:spPr>
          <a:xfrm>
            <a:off x="5120640" y="2743200"/>
            <a:ext cx="64008" cy="164592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0"/>
          <p:cNvSpPr/>
          <p:nvPr/>
        </p:nvSpPr>
        <p:spPr>
          <a:xfrm>
            <a:off x="5440680" y="283464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D4A843"/>
                </a:solidFill>
              </a:rPr>
              <a:t>ポイント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AI開発企業が常に人材を募集中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スマートフォンでも対応可能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安定的に案件をこなせば月5万円確保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457200" y="477316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40代主婦の副業戦略 2026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772400" y="477316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0D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640080" y="2743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1148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228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おすすめ副業 ⑤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463040" y="5029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特化型スキルシェア・コンサルティング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40080" y="1188720"/>
            <a:ext cx="411480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Text 5"/>
          <p:cNvSpPr/>
          <p:nvPr/>
        </p:nvSpPr>
        <p:spPr>
          <a:xfrm>
            <a:off x="914399" y="1325880"/>
            <a:ext cx="3713967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仕事内容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趣味・資格・特技をココナラやストアカ等で販売。整理収納・献立作成・受験サポートなど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40代主婦の優位性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「20年続けてきた」経験と継続性は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オンライン市場で強力なブランドに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活用プラットフォーム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ココナラ / ストアカ / タイムチケット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</a:rPr>
              <a:t>自分で単価を設定、ファンがつけば高時給化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120640" y="1188720"/>
            <a:ext cx="3474720" cy="1371600"/>
          </a:xfrm>
          <a:prstGeom prst="rect">
            <a:avLst/>
          </a:prstGeom>
          <a:solidFill>
            <a:srgbClr val="1E2761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7"/>
          <p:cNvSpPr/>
          <p:nvPr/>
        </p:nvSpPr>
        <p:spPr>
          <a:xfrm>
            <a:off x="5394960" y="128016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D88A"/>
                </a:solidFill>
              </a:rPr>
              <a:t>収益目標</a:t>
            </a:r>
            <a:endParaRPr lang="en-US" sz="1100" dirty="0"/>
          </a:p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1案件 5,000円 × 月10件</a:t>
            </a:r>
            <a:endParaRPr lang="en-US" sz="1100" dirty="0"/>
          </a:p>
          <a:p>
            <a:pPr marL="0" indent="0">
              <a:buNone/>
            </a:pPr>
            <a:r>
              <a:rPr lang="en-US" sz="2400" b="1" dirty="0">
                <a:solidFill>
                  <a:srgbClr val="D4A843"/>
                </a:solidFill>
              </a:rPr>
              <a:t>＝ 月収5万円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120640" y="2743200"/>
            <a:ext cx="34747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9"/>
          <p:cNvSpPr/>
          <p:nvPr/>
        </p:nvSpPr>
        <p:spPr>
          <a:xfrm>
            <a:off x="5120640" y="2743200"/>
            <a:ext cx="64008" cy="1645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0"/>
          <p:cNvSpPr/>
          <p:nvPr/>
        </p:nvSpPr>
        <p:spPr>
          <a:xfrm>
            <a:off x="5440680" y="283464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こんなスキルが売れる！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</a:rPr>
              <a:t>整理収納アドバイス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</a:rPr>
              <a:t>献立作成・栄養相談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</a:rPr>
              <a:t>受験・学習サポート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</a:rPr>
              <a:t>不登校・子育て相談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2"/>
          <p:cNvSpPr/>
          <p:nvPr/>
        </p:nvSpPr>
        <p:spPr>
          <a:xfrm>
            <a:off x="457200" y="477316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40代主婦の副業戦略 2026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772400" y="477316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0D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収益化 3ヶ月ロードマップ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9748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97480" cy="640080"/>
          </a:xfrm>
          <a:prstGeom prst="rect">
            <a:avLst/>
          </a:prstGeom>
          <a:solidFill>
            <a:srgbClr val="6B8FC4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594360" y="10972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1ヶ月目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準備・環境整備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2359152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</a:rPr>
              <a:t>副業専用メール・口座開設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</a:rPr>
              <a:t>クラウドワークス等に登録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</a:rPr>
              <a:t>メルカリで不用品販売（練習）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</a:rPr>
              <a:t>1日2時間のルーチン確立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37560" y="1097280"/>
            <a:ext cx="269748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8"/>
          <p:cNvSpPr/>
          <p:nvPr/>
        </p:nvSpPr>
        <p:spPr>
          <a:xfrm>
            <a:off x="3337560" y="1097280"/>
            <a:ext cx="2697480" cy="640080"/>
          </a:xfrm>
          <a:prstGeom prst="rect">
            <a:avLst/>
          </a:prstGeom>
          <a:solidFill>
            <a:srgbClr val="7BA68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9"/>
          <p:cNvSpPr/>
          <p:nvPr/>
        </p:nvSpPr>
        <p:spPr>
          <a:xfrm>
            <a:off x="3474720" y="10972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2ヶ月目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474720" y="1417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実績・信頼構築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520440" y="196596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</a:rPr>
              <a:t>タスク案件を10〜20件こなす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</a:rPr>
              <a:t>AIツールの実戦投入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</a:rPr>
              <a:t>プロンプト基礎を習得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</a:rPr>
              <a:t>ポートフォリオ作成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217920" y="1097280"/>
            <a:ext cx="269748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4"/>
          <p:cNvSpPr/>
          <p:nvPr/>
        </p:nvSpPr>
        <p:spPr>
          <a:xfrm>
            <a:off x="6217920" y="1097280"/>
            <a:ext cx="2697480" cy="640080"/>
          </a:xfrm>
          <a:prstGeom prst="rect">
            <a:avLst/>
          </a:prstGeom>
          <a:solidFill>
            <a:srgbClr val="E8836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5"/>
          <p:cNvSpPr/>
          <p:nvPr/>
        </p:nvSpPr>
        <p:spPr>
          <a:xfrm>
            <a:off x="6355080" y="10972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3ヶ月目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355080" y="1417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月5万円突破！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400800" y="196596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</a:rPr>
              <a:t>継続案件の交渉・獲得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</a:rPr>
              <a:t>高単価カテゴリへ応募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</a:rPr>
              <a:t>フィードバック→改善サイクル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</a:rPr>
              <a:t>月5万円達成→安定化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19"/>
          <p:cNvSpPr/>
          <p:nvPr/>
        </p:nvSpPr>
        <p:spPr>
          <a:xfrm>
            <a:off x="457200" y="477316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40代主婦の副業戦略 2026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7772400" y="477316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0D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F733AFDB-A5CC-199A-CC01-5B602E57C020}"/>
              </a:ext>
            </a:extLst>
          </p:cNvPr>
          <p:cNvGrpSpPr/>
          <p:nvPr/>
        </p:nvGrpSpPr>
        <p:grpSpPr>
          <a:xfrm>
            <a:off x="3017520" y="2514600"/>
            <a:ext cx="457200" cy="457200"/>
            <a:chOff x="3017520" y="2514600"/>
            <a:chExt cx="457200" cy="457200"/>
          </a:xfrm>
        </p:grpSpPr>
        <p:sp>
          <p:nvSpPr>
            <p:cNvPr id="8" name="Shape 6"/>
            <p:cNvSpPr/>
            <p:nvPr/>
          </p:nvSpPr>
          <p:spPr>
            <a:xfrm>
              <a:off x="3017520" y="2514600"/>
              <a:ext cx="457200" cy="457200"/>
            </a:xfrm>
            <a:prstGeom prst="ellipse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pic>
          <p:nvPicPr>
            <p:cNvPr id="9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90672" y="2587752"/>
              <a:ext cx="310896" cy="310896"/>
            </a:xfrm>
            <a:prstGeom prst="rect">
              <a:avLst/>
            </a:prstGeom>
          </p:spPr>
        </p:pic>
      </p:grp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CB988B49-A60B-7116-6306-BCD1647DF0CF}"/>
              </a:ext>
            </a:extLst>
          </p:cNvPr>
          <p:cNvGrpSpPr/>
          <p:nvPr/>
        </p:nvGrpSpPr>
        <p:grpSpPr>
          <a:xfrm>
            <a:off x="5897880" y="2514600"/>
            <a:ext cx="457200" cy="457200"/>
            <a:chOff x="5897880" y="2514600"/>
            <a:chExt cx="457200" cy="457200"/>
          </a:xfrm>
        </p:grpSpPr>
        <p:sp>
          <p:nvSpPr>
            <p:cNvPr id="15" name="Shape 12"/>
            <p:cNvSpPr/>
            <p:nvPr/>
          </p:nvSpPr>
          <p:spPr>
            <a:xfrm>
              <a:off x="5897880" y="2514600"/>
              <a:ext cx="457200" cy="457200"/>
            </a:xfrm>
            <a:prstGeom prst="ellipse">
              <a:avLst/>
            </a:prstGeom>
            <a:solidFill>
              <a:srgbClr val="1E2761"/>
            </a:solidFill>
            <a:ln/>
          </p:spPr>
          <p:txBody>
            <a:bodyPr/>
            <a:lstStyle/>
            <a:p>
              <a:endParaRPr lang="ja-JP" altLang="en-US"/>
            </a:p>
          </p:txBody>
        </p:sp>
        <p:pic>
          <p:nvPicPr>
            <p:cNvPr id="16" name="Image 1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71032" y="2587752"/>
              <a:ext cx="310896" cy="31089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時短を叶えるAIツール紹介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「三種の神器」を使いこなして効率を最大化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7863840" cy="4114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ツール名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0" y="12801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40代主婦の活用シーン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78638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64792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691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ChatGPT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200400" y="16916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データ整理・分析・構成案作成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2148840"/>
            <a:ext cx="7863840" cy="457200"/>
          </a:xfrm>
          <a:prstGeom prst="rect">
            <a:avLst/>
          </a:prstGeom>
          <a:solidFill>
            <a:srgbClr val="F5F0E8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221992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80160" y="2148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200400" y="21488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感情に訴える文章・キャプション執筆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40080" y="2606040"/>
            <a:ext cx="78638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2679192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0160" y="2606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Canva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3200400" y="2606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SNS画像・プレゼン資料の自動生成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40080" y="3063240"/>
            <a:ext cx="7863840" cy="457200"/>
          </a:xfrm>
          <a:prstGeom prst="rect">
            <a:avLst/>
          </a:prstGeom>
          <a:solidFill>
            <a:srgbClr val="F5F0E8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136392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80160" y="3063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NotebookLM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3200400" y="30632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資料読み込み・要点抽出・リサーチ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640080" y="3520440"/>
            <a:ext cx="78638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3593592"/>
            <a:ext cx="292608" cy="29260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280160" y="35204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Perplexity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3200400" y="35204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出典付き最新情報の検索・調査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640080" y="4069080"/>
            <a:ext cx="7863840" cy="457200"/>
          </a:xfrm>
          <a:prstGeom prst="rect">
            <a:avLst/>
          </a:prstGeom>
          <a:solidFill>
            <a:srgbClr val="D4A843">
              <a:alpha val="20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1"/>
          <p:cNvSpPr/>
          <p:nvPr/>
        </p:nvSpPr>
        <p:spPr>
          <a:xfrm>
            <a:off x="914400" y="4069080"/>
            <a:ext cx="742793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ポイント：用途に合わせてAIを使い分けることで、1日2時間を「アウトプット」に100%集中！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3"/>
          <p:cNvSpPr/>
          <p:nvPr/>
        </p:nvSpPr>
        <p:spPr>
          <a:xfrm>
            <a:off x="457200" y="477316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40代主婦の副業戦略 2026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7772400" y="477316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0D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心構えと注意点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64008" cy="1463040"/>
          </a:xfrm>
          <a:prstGeom prst="rect">
            <a:avLst/>
          </a:prstGeom>
          <a:solidFill>
            <a:srgbClr val="7BA68D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3258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2344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完璧主義を手放す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63040" y="17373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最初は「60点で提出」でOK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納期を守ることが最優先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846320" y="109728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6"/>
          <p:cNvSpPr/>
          <p:nvPr/>
        </p:nvSpPr>
        <p:spPr>
          <a:xfrm>
            <a:off x="4846320" y="1097280"/>
            <a:ext cx="64008" cy="146304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32588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69280" y="12344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「できた」を記録する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669280" y="17373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毎日の小さな達成感の積み重ねが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挫折を防ぐ最強の特効薬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278892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0"/>
          <p:cNvSpPr/>
          <p:nvPr/>
        </p:nvSpPr>
        <p:spPr>
          <a:xfrm>
            <a:off x="640080" y="2788920"/>
            <a:ext cx="64008" cy="1463040"/>
          </a:xfrm>
          <a:prstGeom prst="rect">
            <a:avLst/>
          </a:prstGeom>
          <a:solidFill>
            <a:srgbClr val="6B8FC4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01752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63040" y="29260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ながらインプット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463040" y="34290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家事中にYouTube・Audibleで学習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作業時間はアウトプットに集中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846320" y="278892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4"/>
          <p:cNvSpPr/>
          <p:nvPr/>
        </p:nvSpPr>
        <p:spPr>
          <a:xfrm>
            <a:off x="4846320" y="2788920"/>
            <a:ext cx="64008" cy="1463040"/>
          </a:xfrm>
          <a:prstGeom prst="rect">
            <a:avLst/>
          </a:prstGeom>
          <a:solidFill>
            <a:srgbClr val="E8836B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301752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669280" y="29260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詐欺に注意！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5669280" y="34290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「初心者で月100万円」は危険信号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大手サイトの決済を必ず利用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Text 18"/>
          <p:cNvSpPr/>
          <p:nvPr/>
        </p:nvSpPr>
        <p:spPr>
          <a:xfrm>
            <a:off x="457200" y="477316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40代主婦の副業戦略 2026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7772400" y="477316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0D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スキルアップの未来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副業がキャリアを拓く。月5万円から始まる新しい人生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3200400"/>
            <a:ext cx="2286000" cy="685800"/>
          </a:xfrm>
          <a:prstGeom prst="rect">
            <a:avLst/>
          </a:prstGeom>
          <a:solidFill>
            <a:srgbClr val="6B8FC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868680" y="321868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月5万円達成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3566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基礎スキル確立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017520" y="2377440"/>
            <a:ext cx="2286000" cy="685800"/>
          </a:xfrm>
          <a:prstGeom prst="rect">
            <a:avLst/>
          </a:prstGeom>
          <a:solidFill>
            <a:srgbClr val="7BA68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3154680" y="239572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AIディレクション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154680" y="2743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AIを管理する側へ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03520" y="1554480"/>
            <a:ext cx="2286000" cy="685800"/>
          </a:xfrm>
          <a:prstGeom prst="rect">
            <a:avLst/>
          </a:prstGeom>
          <a:solidFill>
            <a:srgbClr val="D4A84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5440680" y="157276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月10〜20万円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4068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ニッチ特化で高単価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731520"/>
            <a:ext cx="2286000" cy="685800"/>
          </a:xfrm>
          <a:prstGeom prst="rect">
            <a:avLst/>
          </a:prstGeom>
          <a:solidFill>
            <a:srgbClr val="E8836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6537960" y="74980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キャリア再形成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37960" y="1097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再就職市場で高評価</a:t>
            </a:r>
            <a:endParaRPr lang="en-US" sz="11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3931920"/>
            <a:ext cx="457200" cy="45720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640080" y="4023360"/>
            <a:ext cx="786384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5"/>
          <p:cNvSpPr/>
          <p:nvPr/>
        </p:nvSpPr>
        <p:spPr>
          <a:xfrm>
            <a:off x="914400" y="4023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0D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副業で培ったデジタルスキルは、再就職市場でも極めて高い評価を受けます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7"/>
          <p:cNvSpPr/>
          <p:nvPr/>
        </p:nvSpPr>
        <p:spPr>
          <a:xfrm>
            <a:off x="457200" y="477316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40代主婦の副業戦略 2026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772400" y="477316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0D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41C45">
              <a:alpha val="50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141C45">
              <a:alpha val="50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914400" y="548640"/>
            <a:ext cx="73152" cy="137160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188720" y="457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kern="0" spc="300" dirty="0">
                <a:solidFill>
                  <a:srgbClr val="F0D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今日から始める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9144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あなたの「小さな一歩」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914400" y="1737360"/>
            <a:ext cx="7315200" cy="438912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792224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1737360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制度・AI・人手不足、3つの追い風を味方に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914400" y="2286000"/>
            <a:ext cx="7315200" cy="438912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2340864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2286000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低スペックPC＋ブラウザだけで始められる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914400" y="2834640"/>
            <a:ext cx="7315200" cy="438912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2889504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00200" y="2834640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3ヶ月で月5万円は達成可能な現実的目標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914400" y="3383280"/>
            <a:ext cx="7315200" cy="438912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3438144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00200" y="3383280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副業経験が将来のキャリアの武器になる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2286000" y="4069080"/>
            <a:ext cx="4572000" cy="50292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4"/>
          <p:cNvSpPr/>
          <p:nvPr/>
        </p:nvSpPr>
        <p:spPr>
          <a:xfrm>
            <a:off x="2286000" y="40690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今日から始める小さな一歩が、人生を変える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41C45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16"/>
          <p:cNvSpPr/>
          <p:nvPr/>
        </p:nvSpPr>
        <p:spPr>
          <a:xfrm>
            <a:off x="457200" y="477316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D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ご清聴ありがとうございました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7772400" y="477316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0D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689</Words>
  <Application>Microsoft Office PowerPoint</Application>
  <PresentationFormat>画面に合わせる (16:9)</PresentationFormat>
  <Paragraphs>259</Paragraphs>
  <Slides>15</Slides>
  <Notes>15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19" baseType="lpstr">
      <vt:lpstr>Arial</vt:lpstr>
      <vt:lpstr>Calibri</vt:lpstr>
      <vt:lpstr>Trebuchet MS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2026年版：40代主婦の新しい働き方</dc:title>
  <dc:subject>PptxGenJS Presentation</dc:subject>
  <dc:creator>講義資料</dc:creator>
  <cp:lastModifiedBy>m2-nozaki</cp:lastModifiedBy>
  <cp:revision>2</cp:revision>
  <dcterms:created xsi:type="dcterms:W3CDTF">2026-03-25T10:40:40Z</dcterms:created>
  <dcterms:modified xsi:type="dcterms:W3CDTF">2026-03-30T15:24:53Z</dcterms:modified>
</cp:coreProperties>
</file>